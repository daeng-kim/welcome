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4034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3474720" cy="5070348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82296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74320" y="28346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ECharts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274320" y="3611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제안서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840480" y="13716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차세대 데이터 시각화 솔루션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840480" y="2057400"/>
            <a:ext cx="5029200" cy="36576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ActiveX 기반 레거시 그래프에서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표준으로의 전환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840480" y="3840480"/>
            <a:ext cx="1143000" cy="411480"/>
          </a:xfrm>
          <a:prstGeom prst="roundRect">
            <a:avLst>
              <a:gd name="adj" fmla="val 17778"/>
            </a:avLst>
          </a:prstGeom>
          <a:solidFill>
            <a:srgbClr val="0FA3B1">
              <a:alpha val="8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840480" y="38404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오픈소스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074920" y="3840480"/>
            <a:ext cx="1143000" cy="411480"/>
          </a:xfrm>
          <a:prstGeom prst="roundRect">
            <a:avLst>
              <a:gd name="adj" fmla="val 17778"/>
            </a:avLst>
          </a:prstGeom>
          <a:solidFill>
            <a:srgbClr val="0FA3B1">
              <a:alpha val="8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074920" y="38404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시각화 지원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309360" y="3840480"/>
            <a:ext cx="1143000" cy="411480"/>
          </a:xfrm>
          <a:prstGeom prst="roundRect">
            <a:avLst>
              <a:gd name="adj" fmla="val 17778"/>
            </a:avLst>
          </a:prstGeom>
          <a:solidFill>
            <a:srgbClr val="0FA3B1">
              <a:alpha val="8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38404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친화적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543800" y="3840480"/>
            <a:ext cx="1143000" cy="411480"/>
          </a:xfrm>
          <a:prstGeom prst="roundRect">
            <a:avLst>
              <a:gd name="adj" fmla="val 17778"/>
            </a:avLst>
          </a:prstGeom>
          <a:solidFill>
            <a:srgbClr val="0FA3B1">
              <a:alpha val="8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7543800" y="38404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표준 기반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ActiveX 기반 그래프의 한계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463040"/>
          </a:xfrm>
          <a:prstGeom prst="rect">
            <a:avLst/>
          </a:prstGeom>
          <a:solidFill>
            <a:srgbClr val="FFF0F0"/>
          </a:solidFill>
          <a:ln w="12700">
            <a:solidFill>
              <a:srgbClr val="FFD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25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298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호환성 없음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0352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Explorer 전용으로 Chrome, Edge, Firefox 등 현대 브라우저에서 동작하지 않음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4114800" cy="1463040"/>
          </a:xfrm>
          <a:prstGeom prst="rect">
            <a:avLst/>
          </a:prstGeom>
          <a:solidFill>
            <a:srgbClr val="FFF0F0"/>
          </a:solidFill>
          <a:ln w="12700">
            <a:solidFill>
              <a:srgbClr val="FFD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3258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76672" y="1298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취약점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19472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ActiveX는 보안 위협으로 분류되어 Microsoft가 공식 지원을 종료하였으며 기업 보안 정책에 위반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65760" y="2880360"/>
            <a:ext cx="4114800" cy="1463040"/>
          </a:xfrm>
          <a:prstGeom prst="rect">
            <a:avLst/>
          </a:prstGeom>
          <a:solidFill>
            <a:srgbClr val="FFF0F0"/>
          </a:solidFill>
          <a:ln w="12700">
            <a:solidFill>
              <a:srgbClr val="FFD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0175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7552" y="29900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유지보수 불가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30352" y="33832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레거시 기술로 신규 개발자 확보가 어렵고 기술 지원 업체도 급감하여 유지보수 비용 급증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754880" y="2880360"/>
            <a:ext cx="4114800" cy="1463040"/>
          </a:xfrm>
          <a:prstGeom prst="rect">
            <a:avLst/>
          </a:prstGeom>
          <a:solidFill>
            <a:srgbClr val="FFF0F0"/>
          </a:solidFill>
          <a:ln w="12700">
            <a:solidFill>
              <a:srgbClr val="FFD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301752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76672" y="29900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모바일/태블릿 미지원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919472" y="33832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PC 환경에서만 동작하여 모바일 기기, 태블릿에서 데이터 확인 불가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3200400" cy="50703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이유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무료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51760"/>
            <a:ext cx="182880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383280" y="36576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383280" y="365760"/>
            <a:ext cx="64008" cy="960120"/>
          </a:xfrm>
          <a:prstGeom prst="rect">
            <a:avLst/>
          </a:prstGeom>
          <a:solidFill>
            <a:srgbClr val="0FA3B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47548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13632" y="4389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무료 (Apache 2.0 라이선스)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538728" y="786384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상업적 이용, 수정, 배포 모두 허용. 라이선스 비용 0원으로 예산 절감 효과.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383280" y="146304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83280" y="1463040"/>
            <a:ext cx="64008" cy="960120"/>
          </a:xfrm>
          <a:prstGeom prst="rect">
            <a:avLst/>
          </a:prstGeom>
          <a:solidFill>
            <a:srgbClr val="0FA3B1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57276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13632" y="15361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별 61,000+개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538728" y="1883664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세계 개발자들의 검증을 받은 신뢰할 수 있는 라이브러리. 지속적인 업데이트.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383280" y="256032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383280" y="2560320"/>
            <a:ext cx="64008" cy="960120"/>
          </a:xfrm>
          <a:prstGeom prst="rect">
            <a:avLst/>
          </a:prstGeom>
          <a:solidFill>
            <a:srgbClr val="0FA3B1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2670048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913632" y="26334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풍부한 공식 예제 &amp; 문서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3538728" y="2980944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수백 가지 공식 예제와 상세한 한국어 문서까지 제공하여 개발 생산성 극대화.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383280" y="365760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383280" y="3657600"/>
            <a:ext cx="64008" cy="960120"/>
          </a:xfrm>
          <a:prstGeom prst="rect">
            <a:avLst/>
          </a:prstGeom>
          <a:solidFill>
            <a:srgbClr val="0FA3B1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3767328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913632" y="37307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국내외 대형 레퍼런스 다수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3538728" y="4078224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네이버, 카카오 등 국내 주요 IT 기업 및 글로벌 기업들이 실제 서비스에 채택.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이유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활용에 최적화된 방대한 레퍼런스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0" y="1143000"/>
            <a:ext cx="2194560" cy="2194560"/>
          </a:xfrm>
          <a:prstGeom prst="ellipse">
            <a:avLst/>
          </a:prstGeom>
          <a:solidFill>
            <a:srgbClr val="F0F7FA"/>
          </a:solidFill>
          <a:ln w="25400">
            <a:solidFill>
              <a:srgbClr val="0FA3B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417320"/>
            <a:ext cx="1371600" cy="1371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188720"/>
            <a:ext cx="2926080" cy="1188720"/>
          </a:xfrm>
          <a:prstGeom prst="rect">
            <a:avLst/>
          </a:prstGeom>
          <a:solidFill>
            <a:srgbClr val="F0F7FA"/>
          </a:solidFill>
          <a:ln w="12700">
            <a:solidFill>
              <a:srgbClr val="E2EE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11480" y="12984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645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풍부한 학습 데이터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정확한 코드 생성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1719072"/>
            <a:ext cx="274320" cy="36576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1" name="Shape 8"/>
          <p:cNvSpPr/>
          <p:nvPr/>
        </p:nvSpPr>
        <p:spPr>
          <a:xfrm>
            <a:off x="274320" y="2606040"/>
            <a:ext cx="2926080" cy="1188720"/>
          </a:xfrm>
          <a:prstGeom prst="rect">
            <a:avLst/>
          </a:prstGeom>
          <a:solidFill>
            <a:srgbClr val="F0F7FA"/>
          </a:solidFill>
          <a:ln w="12700">
            <a:solidFill>
              <a:srgbClr val="E2EE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11480" y="27157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적용 가능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30632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생성한 코드를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그대로 사용 가능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3136392"/>
            <a:ext cx="274320" cy="36576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5" name="Shape 12"/>
          <p:cNvSpPr/>
          <p:nvPr/>
        </p:nvSpPr>
        <p:spPr>
          <a:xfrm>
            <a:off x="5943600" y="1188720"/>
            <a:ext cx="2926080" cy="1188720"/>
          </a:xfrm>
          <a:prstGeom prst="rect">
            <a:avLst/>
          </a:prstGeom>
          <a:solidFill>
            <a:srgbClr val="F0F7FA"/>
          </a:solidFill>
          <a:ln w="12700">
            <a:solidFill>
              <a:srgbClr val="E2EE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80760" y="12984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디버깅 용이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080760" y="1645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수많은 Q&amp;A 데이터로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해결 빠름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0" y="1719072"/>
            <a:ext cx="274320" cy="36576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9" name="Shape 16"/>
          <p:cNvSpPr/>
          <p:nvPr/>
        </p:nvSpPr>
        <p:spPr>
          <a:xfrm>
            <a:off x="5943600" y="2606040"/>
            <a:ext cx="2926080" cy="1188720"/>
          </a:xfrm>
          <a:prstGeom prst="rect">
            <a:avLst/>
          </a:prstGeom>
          <a:solidFill>
            <a:srgbClr val="F0F7FA"/>
          </a:solidFill>
          <a:ln w="12700">
            <a:solidFill>
              <a:srgbClr val="E2EE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080760" y="27157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속도 향상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080760" y="30632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차트 구현 시간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단축 가능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669280" y="3136392"/>
            <a:ext cx="274320" cy="36576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3" name="Shape 20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ActiveX는 AI 학습 데이터가 거의 없어 개발자가 직접 모든 것을 해결해야 하지만, ECharts는 전 세계 수백만 건의 Q&amp;A와 예제가 AI에 학습되어 있어 개발 효율이 압도적으로 높습니다.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이유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시각화 — GPU가 그려주는 차트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[비유]  일반 차트는 "CPU"가 직접 그림을 그리는 방식 → 복잡할수록 느려짐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3D/ECharts-GL은 "그래픽카드(GPU)"를 활용 → 수만 개의 데이터도 부드럽게 렌더링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2651760" cy="2743200"/>
          </a:xfrm>
          <a:prstGeom prst="rect">
            <a:avLst/>
          </a:prstGeom>
          <a:solidFill>
            <a:srgbClr val="0D1B2A"/>
          </a:solidFill>
          <a:ln w="19050">
            <a:solidFill>
              <a:srgbClr val="0FA3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84832"/>
            <a:ext cx="2651760" cy="64008"/>
          </a:xfrm>
          <a:prstGeom prst="rect">
            <a:avLst/>
          </a:prstGeom>
          <a:solidFill>
            <a:srgbClr val="0FA3B1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28600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3017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echarts-gl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34747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기반 3D 렌더링 확장 패키지. bar3D, surface, scatter3D, globe 등 다양한 3D 차트 지원.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2084832"/>
            <a:ext cx="2651760" cy="2743200"/>
          </a:xfrm>
          <a:prstGeom prst="rect">
            <a:avLst/>
          </a:prstGeom>
          <a:solidFill>
            <a:srgbClr val="0D1B2A"/>
          </a:solidFill>
          <a:ln w="19050">
            <a:solidFill>
              <a:srgbClr val="F4A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2084832"/>
            <a:ext cx="2651760" cy="64008"/>
          </a:xfrm>
          <a:prstGeom prst="rect">
            <a:avLst/>
          </a:prstGeom>
          <a:solidFill>
            <a:srgbClr val="F4A300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28600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3017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가속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337560" y="34747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그래픽카드의 병렬 처리 능력으로 수십만 개 데이터 포인트도 60fps로 부드럽게 표현 가능.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35040" y="2084832"/>
            <a:ext cx="2651760" cy="2743200"/>
          </a:xfrm>
          <a:prstGeom prst="rect">
            <a:avLst/>
          </a:prstGeom>
          <a:solidFill>
            <a:srgbClr val="0D1B2A"/>
          </a:solidFill>
          <a:ln w="1905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2084832"/>
            <a:ext cx="2651760" cy="64008"/>
          </a:xfrm>
          <a:prstGeom prst="rect">
            <a:avLst/>
          </a:prstGeom>
          <a:solidFill>
            <a:srgbClr val="2DC653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228600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6480" y="3017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 차트 타입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172200" y="34747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Bar, Surface(등고선), Scatter3D, Lines3D, Map3D, Globe — 과학·산업 데이터 시각화에 최적.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FA3B1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한눈에 비교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ActiveX vs Apache ECharts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9260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143000"/>
            <a:ext cx="2560320" cy="411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143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1143000"/>
            <a:ext cx="29260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143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ECharts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29260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E2EE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라이선스 비용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554480"/>
            <a:ext cx="256032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E2EE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554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유료 (연간 계약)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52160" y="1554480"/>
            <a:ext cx="29260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E2EE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무료 (Apache 2.0)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029968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299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지원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2029968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0299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 전용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52160" y="2029968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20299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브라우저 지원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2505456"/>
            <a:ext cx="29260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E2EE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5054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지원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2505456"/>
            <a:ext cx="256032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E2EE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5054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불가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852160" y="2505456"/>
            <a:ext cx="29260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E2EE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25054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완벽 지원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2980944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98094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시각화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91840" y="2980944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298094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불가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52160" y="2980944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298094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echarts-gl로 지원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3456432"/>
            <a:ext cx="29260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E2EE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4564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개발 지원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91840" y="3456432"/>
            <a:ext cx="256032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E2EE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34564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거의 없음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852160" y="3456432"/>
            <a:ext cx="29260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E2EE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34564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방대한 레퍼런스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3931920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291840" y="393192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 (MS 지원 종료)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852160" y="3931920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0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표준 기반 안전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5760" y="4407408"/>
            <a:ext cx="29260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E2EE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4074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유지보수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91840" y="4407408"/>
            <a:ext cx="256032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E2EE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83280" y="44074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 부족/고비용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852160" y="4407408"/>
            <a:ext cx="29260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E2EE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0" y="44074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활발한 오픈소스 커뮤니티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A3B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ECharts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레거시를 넘어, 미래 데이터 시각화로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286000" y="3108960"/>
            <a:ext cx="4572000" cy="36576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7" name="Text 4"/>
          <p:cNvSpPr/>
          <p:nvPr/>
        </p:nvSpPr>
        <p:spPr>
          <a:xfrm>
            <a:off x="182880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[O]  무료 오픈소스 — 라이선스 비용 절감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828800" y="36758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[O]  AI 개발 지원 — 개발 속도 및 품질 향상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28800" y="405993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[O]  WebGL(GPU) 3D 차트 — 고급 시각화 가능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828800" y="444398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[O]  웹 표준 기반 — 모든 브라우저·기기 지원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FA3B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494</Words>
  <Application>Microsoft Office PowerPoint</Application>
  <PresentationFormat>화면 슬라이드 쇼(16:9)</PresentationFormat>
  <Paragraphs>96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Dae-Young Kim</cp:lastModifiedBy>
  <cp:revision>1</cp:revision>
  <dcterms:created xsi:type="dcterms:W3CDTF">2026-05-05T23:54:11Z</dcterms:created>
  <dcterms:modified xsi:type="dcterms:W3CDTF">2026-05-05T23:59:25Z</dcterms:modified>
</cp:coreProperties>
</file>