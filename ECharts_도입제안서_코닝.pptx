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71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3840480" cy="5079492"/>
          </a:xfrm>
          <a:prstGeom prst="rect">
            <a:avLst/>
          </a:prstGeom>
          <a:solidFill>
            <a:srgbClr val="0A3D6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7772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423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20040" y="27432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320040" y="34930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 도입 제안서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7315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코닝정밀소재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Modernization 프로젝트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0" y="1783080"/>
            <a:ext cx="4754880" cy="3657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0" y="19202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레거시 ActiveX 그래프에서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표준 오픈소스 시각화 솔루션으로의 전환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0" y="2834640"/>
            <a:ext cx="1115568" cy="384048"/>
          </a:xfrm>
          <a:prstGeom prst="rect">
            <a:avLst/>
          </a:prstGeom>
          <a:solidFill>
            <a:srgbClr val="00A8E8">
              <a:alpha val="75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834640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오픈소스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21808" y="2834640"/>
            <a:ext cx="1115568" cy="384048"/>
          </a:xfrm>
          <a:prstGeom prst="rect">
            <a:avLst/>
          </a:prstGeom>
          <a:solidFill>
            <a:srgbClr val="00A8E8">
              <a:alpha val="75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21808" y="2834640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시각화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28816" y="2834640"/>
            <a:ext cx="1115568" cy="384048"/>
          </a:xfrm>
          <a:prstGeom prst="rect">
            <a:avLst/>
          </a:prstGeom>
          <a:solidFill>
            <a:srgbClr val="00A8E8">
              <a:alpha val="75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28816" y="2834640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친화적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35824" y="2834640"/>
            <a:ext cx="1115568" cy="384048"/>
          </a:xfrm>
          <a:prstGeom prst="rect">
            <a:avLst/>
          </a:prstGeom>
          <a:solidFill>
            <a:srgbClr val="00A8E8">
              <a:alpha val="75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35824" y="2834640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표준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0" y="3383280"/>
            <a:ext cx="4754880" cy="1463040"/>
          </a:xfrm>
          <a:prstGeom prst="rect">
            <a:avLst/>
          </a:prstGeom>
          <a:solidFill>
            <a:srgbClr val="0A3D62">
              <a:alpha val="8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51960" y="349300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정보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251960" y="38221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  코닝정밀소재 (Corning Precision Materials)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251960" y="41239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     AM (Application Modernization) 전환 프로젝트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251960" y="44256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     선정된 차트를 이후 AM 전체 프로젝트에 적용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6B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및 과제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차트 라이브러리를 바꿔야 하는가?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1600200"/>
          </a:xfrm>
          <a:prstGeom prst="rect">
            <a:avLst/>
          </a:prstGeom>
          <a:solidFill>
            <a:srgbClr val="FDF3F3"/>
          </a:solidFill>
          <a:ln w="12700">
            <a:solidFill>
              <a:srgbClr val="F0C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20624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3075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710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전용 / 브라우저 호환 불가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4632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Firefox 등 현대 브라우저에서 동작하지 않아 AM 전환 프로젝트와 근본적으로 상충됨.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43000"/>
            <a:ext cx="4206240" cy="1600200"/>
          </a:xfrm>
          <a:prstGeom prst="rect">
            <a:avLst/>
          </a:prstGeom>
          <a:solidFill>
            <a:srgbClr val="FDF3F3"/>
          </a:solidFill>
          <a:ln w="12700">
            <a:solidFill>
              <a:srgbClr val="F0C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43000"/>
            <a:ext cx="420624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30759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2710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공식 지원 종료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19472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ActiveX는 보안 위협으로 분류, MS가 공식 종료. 기업 보안 감사 시 리스크로 지적되며 Compliance 위반.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2926080"/>
            <a:ext cx="4206240" cy="1600200"/>
          </a:xfrm>
          <a:prstGeom prst="rect">
            <a:avLst/>
          </a:prstGeom>
          <a:solidFill>
            <a:srgbClr val="FDF3F3"/>
          </a:solidFill>
          <a:ln w="12700">
            <a:solidFill>
              <a:srgbClr val="F0C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26080"/>
            <a:ext cx="4206240" cy="54864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0906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0540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 불가 / 전문 인력 부재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84632" y="3474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국내외 ActiveX 전문 개발자 급감으로 유지보수 비용이 급증. AM 이후 추가 개발 시 병목 발생 우려.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926080"/>
            <a:ext cx="4206240" cy="1600200"/>
          </a:xfrm>
          <a:prstGeom prst="rect">
            <a:avLst/>
          </a:prstGeom>
          <a:solidFill>
            <a:srgbClr val="FDF3F3"/>
          </a:solidFill>
          <a:ln w="12700">
            <a:solidFill>
              <a:srgbClr val="F0C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926080"/>
            <a:ext cx="4206240" cy="54864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09067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0540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/ 태블릿 완전 미지원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919472" y="3474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PC에서만 동작. AM 이후 현장·모바일 접근 요구 증가 추세에 전혀 대응 불가.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쟁점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IT운영팀의 상용 솔루션 선호, 과연 가능한가?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7764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0BAB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9776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차트 솔루션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165506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차트 미지원 — 핵심 요건 불충족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(bar3D, surface 등고선 구현 불가)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234086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라이선스 비용 발생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 전체 적용 시 수천만원 규모)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6324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" y="302666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벤더 종속 리스크 — AM 취지에 반함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4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1248" y="371246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기술지원</a:t>
            </a: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133088" y="2331720"/>
            <a:ext cx="877824" cy="877824"/>
          </a:xfrm>
          <a:prstGeom prst="ellipse">
            <a:avLst/>
          </a:prstGeom>
          <a:solidFill>
            <a:srgbClr val="0A3D62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133088" y="2331720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4892040" y="1051560"/>
            <a:ext cx="397764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892040" y="1051560"/>
            <a:ext cx="3977640" cy="4572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20" name="Text 14"/>
          <p:cNvSpPr/>
          <p:nvPr/>
        </p:nvSpPr>
        <p:spPr>
          <a:xfrm>
            <a:off x="4892040" y="10515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ECharts (오픈소스)</a:t>
            </a:r>
            <a:endParaRPr lang="en-US" sz="14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69164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58968" y="165506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차트 완벽 지원 (echarts-gl)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(bar3D, surface 등고선 모두 구현 가능)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377440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58968" y="234086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무료 (Apache 2.0)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 전체 확대 시 비용 0원)</a:t>
            </a:r>
            <a:endParaRPr lang="en-US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063240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58968" y="302666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표준 기반, 벤더 독립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 현대화 방향과 완벽 일치)</a:t>
            </a:r>
            <a:endParaRPr lang="en-US" sz="10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749040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458968" y="371246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61K+ 스타, 방대한 커뮤니티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(실질적 기술 지원 충분)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3108960" cy="507949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320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이유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858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무료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440740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전체 확대 적용 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 비용: 0원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274320"/>
            <a:ext cx="5577840" cy="1005840"/>
          </a:xfrm>
          <a:prstGeom prst="rect">
            <a:avLst/>
          </a:prstGeom>
          <a:solidFill>
            <a:srgbClr val="F0F6FB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91840" y="274320"/>
            <a:ext cx="64008" cy="1005840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8404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22192" y="3474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라이선스 — 완전 무료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47288" y="713232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상업적 이용, 수정, 재배포 모두 허용. 코닝정밀소재 AM 프로젝트 전체로 확대해도 추가 비용 없음.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91840" y="1389888"/>
            <a:ext cx="5577840" cy="1005840"/>
          </a:xfrm>
          <a:prstGeom prst="rect">
            <a:avLst/>
          </a:prstGeom>
          <a:solidFill>
            <a:srgbClr val="F0F6FB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91840" y="1389888"/>
            <a:ext cx="64008" cy="1005840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4996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22192" y="14630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별 61,000개+ — 글로벌 검증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447288" y="1828800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수만 명의 개발자가 사용하고 기여. 지속적인 업데이트와 장기 유지보수가 보장됨.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291840" y="2505456"/>
            <a:ext cx="5577840" cy="1005840"/>
          </a:xfrm>
          <a:prstGeom prst="rect">
            <a:avLst/>
          </a:prstGeom>
          <a:solidFill>
            <a:srgbClr val="F0F6FB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291840" y="2505456"/>
            <a:ext cx="64008" cy="1005840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61518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822192" y="25786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국내외 대형 레퍼런스 다수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3447288" y="2944368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네이버, 카카오, Alibaba, Baidu 등 최상위 IT 기업들이 프로덕션에 채택한 검증된 솔루션.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91840" y="3621024"/>
            <a:ext cx="5577840" cy="1005840"/>
          </a:xfrm>
          <a:prstGeom prst="rect">
            <a:avLst/>
          </a:prstGeom>
          <a:solidFill>
            <a:srgbClr val="F0F6FB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291840" y="3621024"/>
            <a:ext cx="64008" cy="1005840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730752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22192" y="369417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문서 및 예제 풍부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447288" y="4059936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한국어 문서와 방대한 예제 제공. 신규 투입 인력도 빠른 온보딩 가능.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이유 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솔루션이 제공 못하는 3D 시각화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749808"/>
          </a:xfrm>
          <a:prstGeom prst="rect">
            <a:avLst/>
          </a:prstGeom>
          <a:solidFill>
            <a:srgbClr val="0A3D62">
              <a:alpha val="8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[GPU 비유]  일반 차트는 CPU(중앙처리장치)가 화면을 직접 그림 - 3D처럼 복잡하면 느리고 버거움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ECharts-GL은 GPU(그래픽카드)를 활용 - 게임처럼 수만 개 데이터도 부드럽게 3D 렌더링 가능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938528"/>
            <a:ext cx="2697480" cy="2907792"/>
          </a:xfrm>
          <a:prstGeom prst="rect">
            <a:avLst/>
          </a:prstGeom>
          <a:solidFill>
            <a:srgbClr val="0D1B2A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938528"/>
            <a:ext cx="2697480" cy="64008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10312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8803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bar3D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막대 차트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6118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 데이터, KPI를 입체 막대로 표현. 기간/공정/제품 3개 축 동시 비교 가능.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72968" y="1938528"/>
            <a:ext cx="2697480" cy="2907792"/>
          </a:xfrm>
          <a:prstGeom prst="rect">
            <a:avLst/>
          </a:prstGeom>
          <a:solidFill>
            <a:srgbClr val="0D1B2A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72968" y="1938528"/>
            <a:ext cx="2697480" cy="64008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2103120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64408" y="28803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등고선 차트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10128" y="36118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지형도처럼 연속된 3D 면으로 표현. 품질 분포, 온도 맵, 공정 파라미터 분석에 최적.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25896" y="1938528"/>
            <a:ext cx="2697480" cy="2907792"/>
          </a:xfrm>
          <a:prstGeom prst="rect">
            <a:avLst/>
          </a:prstGeom>
          <a:solidFill>
            <a:srgbClr val="0D1B2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25896" y="1938528"/>
            <a:ext cx="2697480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36" y="2103120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17336" y="28803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scatter3D / globe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 3D 차트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63056" y="36118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산점도, 지구본 시각화 등 고급 차트 지원. 상용 솔루션으로는 대체 불가.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검토한 주요 상용 차트 </a:t>
            </a:r>
            <a:r>
              <a:rPr lang="en-US" sz="850" dirty="0" err="1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r>
              <a:rPr lang="en-US" sz="8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850" dirty="0" err="1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RealCharts</a:t>
            </a:r>
            <a:r>
              <a:rPr lang="en-US" sz="8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FusionChart, </a:t>
            </a:r>
            <a:r>
              <a:rPr lang="en-US" sz="850" dirty="0" err="1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DXCharts</a:t>
            </a:r>
            <a:r>
              <a:rPr lang="en-US" sz="8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등)에서는 3D bar/surface 차트를 정식 지원하지 않음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이유 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개발 지원으로 빠른 구현 &amp; 낮은 유지보수 비용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566160" y="1188720"/>
            <a:ext cx="2011680" cy="2011680"/>
          </a:xfrm>
          <a:prstGeom prst="ellipse">
            <a:avLst/>
          </a:prstGeom>
          <a:solidFill>
            <a:srgbClr val="F0F6FB"/>
          </a:solidFill>
          <a:ln w="25400">
            <a:solidFill>
              <a:srgbClr val="00A8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63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6160" y="32186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3108960" cy="1325880"/>
          </a:xfrm>
          <a:prstGeom prst="rect">
            <a:avLst/>
          </a:prstGeom>
          <a:solidFill>
            <a:srgbClr val="F0F6FB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88720"/>
            <a:ext cx="64008" cy="132588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1316736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활용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29768" y="169164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학습 데이터로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코드 즉시 생성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0" y="1810512"/>
            <a:ext cx="201168" cy="3657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3" name="Shape 10"/>
          <p:cNvSpPr/>
          <p:nvPr/>
        </p:nvSpPr>
        <p:spPr>
          <a:xfrm>
            <a:off x="274320" y="2697480"/>
            <a:ext cx="3108960" cy="1325880"/>
          </a:xfrm>
          <a:prstGeom prst="rect">
            <a:avLst/>
          </a:prstGeom>
          <a:solidFill>
            <a:srgbClr val="F0F6FB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697480"/>
            <a:ext cx="64008" cy="132588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5" name="Text 12"/>
          <p:cNvSpPr/>
          <p:nvPr/>
        </p:nvSpPr>
        <p:spPr>
          <a:xfrm>
            <a:off x="429768" y="2825496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디버깅 용이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9768" y="320040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수백만 건 Q&amp;A 기반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시간 단축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83280" y="3319272"/>
            <a:ext cx="201168" cy="3657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8" name="Shape 15"/>
          <p:cNvSpPr/>
          <p:nvPr/>
        </p:nvSpPr>
        <p:spPr>
          <a:xfrm>
            <a:off x="5760720" y="1188720"/>
            <a:ext cx="3108960" cy="1325880"/>
          </a:xfrm>
          <a:prstGeom prst="rect">
            <a:avLst/>
          </a:prstGeom>
          <a:solidFill>
            <a:srgbClr val="F0F6FB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1188720"/>
            <a:ext cx="64008" cy="132588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0" name="Text 17"/>
          <p:cNvSpPr/>
          <p:nvPr/>
        </p:nvSpPr>
        <p:spPr>
          <a:xfrm>
            <a:off x="5916168" y="1316736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속도 향상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916168" y="169164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시간 단축으로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일정 준수에 기여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77840" y="1810512"/>
            <a:ext cx="201168" cy="3657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3" name="Shape 20"/>
          <p:cNvSpPr/>
          <p:nvPr/>
        </p:nvSpPr>
        <p:spPr>
          <a:xfrm>
            <a:off x="5760720" y="2697480"/>
            <a:ext cx="3108960" cy="1325880"/>
          </a:xfrm>
          <a:prstGeom prst="rect">
            <a:avLst/>
          </a:prstGeom>
          <a:solidFill>
            <a:srgbClr val="F0F6FB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60720" y="2697480"/>
            <a:ext cx="64008" cy="132588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5" name="Text 22"/>
          <p:cNvSpPr/>
          <p:nvPr/>
        </p:nvSpPr>
        <p:spPr>
          <a:xfrm>
            <a:off x="5916168" y="2825496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ActiveX는 AI 사각지대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916168" y="320040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거의 없어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완전 불가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577840" y="3319272"/>
            <a:ext cx="201168" cy="3657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8" name="Shape 25"/>
          <p:cNvSpPr/>
          <p:nvPr/>
        </p:nvSpPr>
        <p:spPr>
          <a:xfrm>
            <a:off x="274320" y="4224528"/>
            <a:ext cx="8595360" cy="658368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22452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ECharts는 전 세계 수백만 건의 Q&amp;A와 코드 예제가 AI에 학습되어 있어, 개발자가 AI를 통해 즉시 코드를 생성하고 디버깅할 수 있습니다.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Activex는 AI 학습 데이터가 거의 없어 모든 것을 개발자가 직접 해결해야 합니다.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비교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ActiveX / 상용 차트 vs Apache ECharts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560320" cy="41148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789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항목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078992"/>
            <a:ext cx="2651760" cy="4114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0789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ActiveX / 상용 차트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078992"/>
            <a:ext cx="3383280" cy="41148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0789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ECharts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90472"/>
            <a:ext cx="256032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차트 지원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2834640" y="1490472"/>
            <a:ext cx="265176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490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미지원 — 핵심 요건 불충족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486400" y="1490472"/>
            <a:ext cx="338328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4904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bar3D/surface/scatter3D 완벽 지원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274320" y="19659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 비용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2834640" y="196596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(연간 계약)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486400" y="1965960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무료 (Apache 2.0)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274320" y="2441448"/>
            <a:ext cx="256032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414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지원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2834640" y="2441448"/>
            <a:ext cx="265176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24414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전용 또는 제한적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486400" y="2441448"/>
            <a:ext cx="338328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441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Chrome/Edge/Firefox/Safari 모두 지원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274320" y="2916936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9169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지원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2834640" y="2916936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29169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 / 제한적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486400" y="2916936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9169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 지원 (반응형)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274320" y="3392424"/>
            <a:ext cx="256032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3924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확대 적용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2834640" y="3392424"/>
            <a:ext cx="265176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3924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벤더 종속 리스크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486400" y="3392424"/>
            <a:ext cx="338328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3924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— AM 현대화 방향과 일치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274320" y="3867912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8679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개발 지원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2834640" y="3867912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3867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거의 없음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5486400" y="3867912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38679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레퍼런스로 AI 활용 최적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274320" y="4343400"/>
            <a:ext cx="256032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/ 지원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2834640" y="4343400"/>
            <a:ext cx="265176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0" y="4343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공식 지원 종료 / 취약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5486400" y="4343400"/>
            <a:ext cx="3383280" cy="457200"/>
          </a:xfrm>
          <a:prstGeom prst="rect">
            <a:avLst/>
          </a:prstGeom>
          <a:solidFill>
            <a:srgbClr val="F5F9FC"/>
          </a:solidFill>
          <a:ln w="6350">
            <a:solidFill>
              <a:srgbClr val="D8E6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4343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표준 기반, 오픈소스 커뮤니티 활발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3D6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3657600" cy="5079492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64008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제안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27889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 권고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74320" y="422452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코닝정밀소재 AM 프로젝트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차트 라이브러리 선정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23360" y="411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ECharts인가 — 핵심 요약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023360" y="841248"/>
            <a:ext cx="4846320" cy="3657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0" name="Shape 7"/>
          <p:cNvSpPr/>
          <p:nvPr/>
        </p:nvSpPr>
        <p:spPr>
          <a:xfrm>
            <a:off x="4023360" y="987552"/>
            <a:ext cx="4846320" cy="86868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23360" y="987552"/>
            <a:ext cx="502920" cy="868680"/>
          </a:xfrm>
          <a:prstGeom prst="rect">
            <a:avLst/>
          </a:prstGeom>
          <a:solidFill>
            <a:srgbClr val="00A8E8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023360" y="98755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17720" y="10607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차트 — 상용 솔루션 대체 불가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17720" y="14081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bar3D, surface 등고선 등 3D 차트는 ECharts-GL만 지원. 상용 솔루션으로 요건 충족 불가.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023360" y="1947672"/>
            <a:ext cx="4846320" cy="86868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23360" y="1947672"/>
            <a:ext cx="502920" cy="868680"/>
          </a:xfrm>
          <a:prstGeom prst="rect">
            <a:avLst/>
          </a:prstGeom>
          <a:solidFill>
            <a:srgbClr val="00A8E8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023360" y="194767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617720" y="20208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 비용 절감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617720" y="236829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전체 확대 시 상용 대비 수천만원 절감. 오픈소스 특성상 확장해도 추가 비용 없음.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023360" y="2907792"/>
            <a:ext cx="4846320" cy="86868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23360" y="2907792"/>
            <a:ext cx="502920" cy="868680"/>
          </a:xfrm>
          <a:prstGeom prst="rect">
            <a:avLst/>
          </a:prstGeom>
          <a:solidFill>
            <a:srgbClr val="00A8E8">
              <a:alpha val="8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023360" y="290779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617720" y="29809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현대화 방향과 완벽 일치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617720" y="332841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표준 기반, 벤더 독립, 모든 브라우저/기기 지원 — 이번 AM 프로젝트 목표와 부합.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023360" y="3867912"/>
            <a:ext cx="4846320" cy="86868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23360" y="3867912"/>
            <a:ext cx="502920" cy="868680"/>
          </a:xfrm>
          <a:prstGeom prst="rect">
            <a:avLst/>
          </a:prstGeom>
          <a:solidFill>
            <a:srgbClr val="00A8E8">
              <a:alpha val="8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4023360" y="386791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617720" y="39410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활용으로 개발 효율 극대화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617720" y="428853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레퍼런스로 AI 기반 개발 가능. 구현 속도 향상 및 유지보수 비용 절감.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838</Words>
  <Application>Microsoft Office PowerPoint</Application>
  <PresentationFormat>화면 슬라이드 쇼(16:9)</PresentationFormat>
  <Paragraphs>143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Dae-Young Kim</cp:lastModifiedBy>
  <cp:revision>2</cp:revision>
  <dcterms:created xsi:type="dcterms:W3CDTF">2026-05-06T01:05:49Z</dcterms:created>
  <dcterms:modified xsi:type="dcterms:W3CDTF">2026-05-06T01:10:15Z</dcterms:modified>
</cp:coreProperties>
</file>